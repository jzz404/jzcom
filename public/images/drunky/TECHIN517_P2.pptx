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jPTePPq/KgTXwp3f6i42r/bKf7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drive.google.com/file/d/15glmO3u_B6usdLHbQ8uAuzNuhz6zEPbV/view" TargetMode="External"/><Relationship Id="rId4" Type="http://schemas.openxmlformats.org/officeDocument/2006/relationships/image" Target="../media/image1.png"/><Relationship Id="rId11" Type="http://schemas.openxmlformats.org/officeDocument/2006/relationships/hyperlink" Target="http://drive.google.com/file/d/1cGgytDOtA50TI_X6woHme2dmHw7wtY-z/view" TargetMode="External"/><Relationship Id="rId10" Type="http://schemas.openxmlformats.org/officeDocument/2006/relationships/image" Target="../media/image4.jpg"/><Relationship Id="rId9" Type="http://schemas.openxmlformats.org/officeDocument/2006/relationships/hyperlink" Target="http://drive.google.com/file/d/1ZjkP85b8dc5u8UFvHtaRV9ryNhb-qt4O/view" TargetMode="External"/><Relationship Id="rId5" Type="http://schemas.openxmlformats.org/officeDocument/2006/relationships/hyperlink" Target="http://drive.google.com/file/d/1MiXbHHUmdSPqOkRmXJSJhuXCYqGg2axM/view" TargetMode="External"/><Relationship Id="rId6" Type="http://schemas.openxmlformats.org/officeDocument/2006/relationships/image" Target="../media/image2.jpg"/><Relationship Id="rId7" Type="http://schemas.openxmlformats.org/officeDocument/2006/relationships/hyperlink" Target="http://drive.google.com/file/d/1eqR9k34lu-VLonm0hIbGhKGqql7gw-0y/view" TargetMode="External"/><Relationship Id="rId8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20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047750" y="1047750"/>
            <a:ext cx="1143000" cy="38100"/>
          </a:xfrm>
          <a:prstGeom prst="rect">
            <a:avLst/>
          </a:prstGeom>
          <a:solidFill>
            <a:srgbClr val="B7A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1047750" y="1619250"/>
            <a:ext cx="166782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A57A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B7A57A"/>
                </a:solidFill>
                <a:latin typeface="Arial"/>
                <a:ea typeface="Arial"/>
                <a:cs typeface="Arial"/>
                <a:sym typeface="Arial"/>
              </a:rPr>
              <a:t>PROGRESS UPDATE 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047750" y="2152650"/>
            <a:ext cx="16678275" cy="25023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900"/>
              <a:buFont typeface="Georgia"/>
              <a:buNone/>
            </a:pPr>
            <a:r>
              <a:rPr b="0" i="0" lang="en-US" sz="99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Drunky</a:t>
            </a:r>
            <a:r>
              <a:rPr b="0" i="0" lang="en-US" sz="9900" u="none" cap="none" strike="noStrike">
                <a:solidFill>
                  <a:srgbClr val="B7A57A"/>
                </a:solidFill>
                <a:latin typeface="Georgia"/>
                <a:ea typeface="Georgia"/>
                <a:cs typeface="Georgia"/>
                <a:sym typeface="Georgia"/>
              </a:rPr>
              <a:t>: </a:t>
            </a:r>
            <a:r>
              <a:rPr b="0" i="0" lang="en-US" sz="99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Robot Bartender</a:t>
            </a:r>
            <a:endParaRPr b="0" i="0" sz="99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Georgia"/>
              <a:buNone/>
            </a:pPr>
            <a:r>
              <a:rPr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🍹</a:t>
            </a: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· 🥃 ·</a:t>
            </a:r>
            <a:r>
              <a:rPr lang="en-US"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🍸</a:t>
            </a:r>
            <a:endParaRPr sz="99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047750" y="4883646"/>
            <a:ext cx="16678275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1F2"/>
              </a:buClr>
              <a:buSzPts val="3300"/>
              <a:buFont typeface="Georgia"/>
              <a:buNone/>
            </a:pPr>
            <a:r>
              <a:rPr b="0" i="1" lang="en-US" sz="3300" u="none" cap="none" strike="noStrike">
                <a:solidFill>
                  <a:srgbClr val="E8E1F2"/>
                </a:solidFill>
                <a:latin typeface="Georgia"/>
                <a:ea typeface="Georgia"/>
                <a:cs typeface="Georgia"/>
                <a:sym typeface="Georgia"/>
              </a:rPr>
              <a:t>An automated </a:t>
            </a:r>
            <a:r>
              <a:rPr i="1" lang="en-US" sz="3300">
                <a:solidFill>
                  <a:srgbClr val="E8E1F2"/>
                </a:solidFill>
                <a:latin typeface="Georgia"/>
                <a:ea typeface="Georgia"/>
                <a:cs typeface="Georgia"/>
                <a:sym typeface="Georgia"/>
              </a:rPr>
              <a:t>bartender</a:t>
            </a:r>
            <a:r>
              <a:rPr b="0" i="1" lang="en-US" sz="3300" u="none" cap="none" strike="noStrike">
                <a:solidFill>
                  <a:srgbClr val="E8E1F2"/>
                </a:solidFill>
                <a:latin typeface="Georgia"/>
                <a:ea typeface="Georgia"/>
                <a:cs typeface="Georgia"/>
                <a:sym typeface="Georgia"/>
              </a:rPr>
              <a:t> system built on two SO-101 arms, imitation learning, and color</a:t>
            </a:r>
            <a:r>
              <a:rPr i="1" lang="en-US" sz="3300">
                <a:solidFill>
                  <a:srgbClr val="E8E1F2"/>
                </a:solidFill>
                <a:latin typeface="Georgia"/>
                <a:ea typeface="Georgia"/>
                <a:cs typeface="Georgia"/>
                <a:sym typeface="Georgia"/>
              </a:rPr>
              <a:t> and label </a:t>
            </a:r>
            <a:r>
              <a:rPr b="0" i="1" lang="en-US" sz="3300" u="none" cap="none" strike="noStrike">
                <a:solidFill>
                  <a:srgbClr val="E8E1F2"/>
                </a:solidFill>
                <a:latin typeface="Georgia"/>
                <a:ea typeface="Georgia"/>
                <a:cs typeface="Georgia"/>
                <a:sym typeface="Georgia"/>
              </a:rPr>
              <a:t>based perception.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047750" y="5857875"/>
            <a:ext cx="16192500" cy="9525"/>
          </a:xfrm>
          <a:prstGeom prst="rect">
            <a:avLst/>
          </a:prstGeom>
          <a:solidFill>
            <a:srgbClr val="B7A57A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1047750" y="6267450"/>
            <a:ext cx="804481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A57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B7A57A"/>
                </a:solidFill>
                <a:latin typeface="Arial"/>
                <a:ea typeface="Arial"/>
                <a:cs typeface="Arial"/>
                <a:sym typeface="Arial"/>
              </a:rPr>
              <a:t>COURSE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1047750" y="6667500"/>
            <a:ext cx="8044815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Georgia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TECHIN 517 — Robotics Final Project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9429750" y="6267450"/>
            <a:ext cx="804481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A57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B7A57A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9429750" y="6667500"/>
            <a:ext cx="804481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Georgia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Tony Chen · Rushav Dash · Joyce Zhou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1047750" y="8039100"/>
            <a:ext cx="804481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A57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B7A57A"/>
                </a:solidFill>
                <a:latin typeface="Arial"/>
                <a:ea typeface="Arial"/>
                <a:cs typeface="Arial"/>
                <a:sym typeface="Arial"/>
              </a:rPr>
              <a:t>INSTITUTION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1047750" y="8439150"/>
            <a:ext cx="8044815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Georgia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University of Washington Global Innovation Exchange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9429750" y="8039100"/>
            <a:ext cx="804481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A57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B7A57A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9429750" y="8439150"/>
            <a:ext cx="804481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Georgia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May 2026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/>
          <p:nvPr/>
        </p:nvSpPr>
        <p:spPr>
          <a:xfrm>
            <a:off x="1047750" y="857250"/>
            <a:ext cx="166782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754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85754E"/>
                </a:solidFill>
                <a:latin typeface="Arial"/>
                <a:ea typeface="Arial"/>
                <a:cs typeface="Arial"/>
                <a:sym typeface="Arial"/>
              </a:rPr>
              <a:t>WHERE WE LEFT OFF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047750" y="1257300"/>
            <a:ext cx="16678275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006E"/>
              </a:buClr>
              <a:buSzPts val="4800"/>
              <a:buFont typeface="Georgia"/>
              <a:buNone/>
            </a:pPr>
            <a:r>
              <a:rPr b="0" i="0" lang="en-US" sz="4800" u="none" cap="none" strike="noStrike">
                <a:solidFill>
                  <a:srgbClr val="32006E"/>
                </a:solidFill>
                <a:latin typeface="Georgia"/>
                <a:ea typeface="Georgia"/>
                <a:cs typeface="Georgia"/>
                <a:sym typeface="Georgia"/>
              </a:rPr>
              <a:t>Previous progress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047750" y="2878336"/>
            <a:ext cx="8334970" cy="19050"/>
          </a:xfrm>
          <a:prstGeom prst="rect">
            <a:avLst/>
          </a:prstGeom>
          <a:solidFill>
            <a:srgbClr val="B7A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1047750" y="2392561"/>
            <a:ext cx="8585019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2E83"/>
              </a:buClr>
              <a:buSzPts val="2400"/>
              <a:buFont typeface="Georgia"/>
              <a:buNone/>
            </a:pPr>
            <a:r>
              <a:rPr b="0" i="0" lang="en-US" sz="2400" u="none" cap="none" strike="noStrike">
                <a:solidFill>
                  <a:srgbClr val="4B2E83"/>
                </a:solidFill>
                <a:latin typeface="Georgia"/>
                <a:ea typeface="Georgia"/>
                <a:cs typeface="Georgia"/>
                <a:sym typeface="Georgia"/>
              </a:rPr>
              <a:t>Previously completed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047800" y="3029225"/>
            <a:ext cx="66348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2006E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32006E"/>
                </a:solidFill>
              </a:rPr>
              <a:t>Alcohol Bottle Detection and Classification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047800" y="3415871"/>
            <a:ext cx="81336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lang="en-US" sz="1800">
                <a:solidFill>
                  <a:srgbClr val="4A4A52"/>
                </a:solidFill>
              </a:rPr>
              <a:t>Collected 100+ images of shooter bottles and fine-tuned YOLO. Localize bottles on the shelf and get pose coordinates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047738" y="4321191"/>
            <a:ext cx="4023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2006E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32006E"/>
                </a:solidFill>
                <a:latin typeface="Arial"/>
                <a:ea typeface="Arial"/>
                <a:cs typeface="Arial"/>
                <a:sym typeface="Arial"/>
              </a:rPr>
              <a:t>ACT grab policy </a:t>
            </a:r>
            <a:r>
              <a:rPr b="1" lang="en-US" sz="2250">
                <a:solidFill>
                  <a:srgbClr val="32006E"/>
                </a:solidFill>
              </a:rPr>
              <a:t>v1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047738" y="4707846"/>
            <a:ext cx="81336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A4A52"/>
                </a:solidFill>
              </a:rPr>
              <a:t>Imitation learning pipeline validated: teleoperation, data collection, ACT training,  and autonomous inference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047850" y="5619534"/>
            <a:ext cx="3075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2006E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32006E"/>
                </a:solidFill>
                <a:latin typeface="Arial"/>
                <a:ea typeface="Arial"/>
                <a:cs typeface="Arial"/>
                <a:sym typeface="Arial"/>
              </a:rPr>
              <a:t>Dual-arm ROS 2 stack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047850" y="6006190"/>
            <a:ext cx="81336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A4A5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A4A52"/>
                </a:solidFill>
                <a:latin typeface="Arial"/>
                <a:ea typeface="Arial"/>
                <a:cs typeface="Arial"/>
                <a:sym typeface="Arial"/>
              </a:rPr>
              <a:t>Synchronized control of both SO-101 arms over a shared topic 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047750" y="6531239"/>
            <a:ext cx="36642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2006E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32006E"/>
                </a:solidFill>
              </a:rPr>
              <a:t>Environment set-up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047750" y="6917895"/>
            <a:ext cx="81336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A4A52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4A4A52"/>
                </a:solidFill>
              </a:rPr>
              <a:t>Docker environment configured with ROS 2 Humble, LeRobot, and RealSense support</a:t>
            </a:r>
            <a:endParaRPr sz="1800">
              <a:solidFill>
                <a:srgbClr val="4A4A52"/>
              </a:solidFill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9992320" y="2878336"/>
            <a:ext cx="7247781" cy="19050"/>
          </a:xfrm>
          <a:prstGeom prst="rect">
            <a:avLst/>
          </a:prstGeom>
          <a:solidFill>
            <a:srgbClr val="B7A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9992320" y="2392561"/>
            <a:ext cx="7465214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2E83"/>
              </a:buClr>
              <a:buSzPts val="2400"/>
              <a:buFont typeface="Georgia"/>
              <a:buNone/>
            </a:pPr>
            <a:r>
              <a:rPr lang="en-US" sz="2400">
                <a:solidFill>
                  <a:srgbClr val="4B2E83"/>
                </a:solidFill>
                <a:latin typeface="Georgia"/>
                <a:ea typeface="Georgia"/>
                <a:cs typeface="Georgia"/>
                <a:sym typeface="Georgia"/>
              </a:rPr>
              <a:t>Recently completed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047750" y="9677400"/>
            <a:ext cx="465152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9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A8A90"/>
                </a:solidFill>
                <a:latin typeface="Arial"/>
                <a:ea typeface="Arial"/>
                <a:cs typeface="Arial"/>
                <a:sym typeface="Arial"/>
              </a:rPr>
              <a:t>DRUNKY · PROGRESS UPDATE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6917293" y="9677400"/>
            <a:ext cx="39915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2E8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B2E83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9992375" y="3029236"/>
            <a:ext cx="43008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2006E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32006E"/>
                </a:solidFill>
              </a:rPr>
              <a:t>Rosetta</a:t>
            </a:r>
            <a:r>
              <a:rPr b="1" i="0" lang="en-US" sz="2250" u="none" cap="none" strike="noStrike">
                <a:solidFill>
                  <a:srgbClr val="32006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2250">
                <a:solidFill>
                  <a:srgbClr val="32006E"/>
                </a:solidFill>
              </a:rPr>
              <a:t>integration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9992375" y="3415891"/>
            <a:ext cx="81336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lang="en-US" sz="1800">
                <a:solidFill>
                  <a:srgbClr val="4A4A52"/>
                </a:solidFill>
              </a:rPr>
              <a:t>Deployed the ACT policy through the Rosetta pipeline for ROS 2-based inference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9992313" y="4321204"/>
            <a:ext cx="4023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2006E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32006E"/>
                </a:solidFill>
                <a:latin typeface="Arial"/>
                <a:ea typeface="Arial"/>
                <a:cs typeface="Arial"/>
                <a:sym typeface="Arial"/>
              </a:rPr>
              <a:t>ACT grab policy </a:t>
            </a:r>
            <a:r>
              <a:rPr b="1" lang="en-US" sz="2250">
                <a:solidFill>
                  <a:srgbClr val="32006E"/>
                </a:solidFill>
              </a:rPr>
              <a:t>v2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9992313" y="4707859"/>
            <a:ext cx="81336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A4A52"/>
                </a:solidFill>
              </a:rPr>
              <a:t>Policy scoped down to bottle grabbing only; trained on 66 right-arm episodes and 32 left-arm episodes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9992425" y="5619550"/>
            <a:ext cx="39192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2006E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32006E"/>
                </a:solidFill>
              </a:rPr>
              <a:t>Classical pose sequence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9992425" y="6006202"/>
            <a:ext cx="81336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A4A52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4A4A52"/>
                </a:solidFill>
              </a:rPr>
              <a:t>Pre-recorded poses for pouring, tossing bottle, and pushing the drink forward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20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1047750" y="857250"/>
            <a:ext cx="166782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A57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B7A57A"/>
                </a:solidFill>
                <a:latin typeface="Arial"/>
                <a:ea typeface="Arial"/>
                <a:cs typeface="Arial"/>
                <a:sym typeface="Arial"/>
              </a:rPr>
              <a:t>DEMO REEL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1047750" y="1257300"/>
            <a:ext cx="16678275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Georgia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System in action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3371850" y="3447008"/>
            <a:ext cx="571500" cy="571500"/>
          </a:xfrm>
          <a:prstGeom prst="ellipse">
            <a:avLst/>
          </a:prstGeom>
          <a:noFill/>
          <a:ln cap="flat" cmpd="sng" w="19050">
            <a:solidFill>
              <a:srgbClr val="B7A5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817043" y="4113758"/>
            <a:ext cx="379154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A57A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B7A57A"/>
                </a:solidFill>
                <a:latin typeface="Courier New"/>
                <a:ea typeface="Courier New"/>
                <a:cs typeface="Courier New"/>
                <a:sym typeface="Courier New"/>
              </a:rPr>
              <a:t>Image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520725" y="9129612"/>
            <a:ext cx="23241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Bottle detection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534150" y="2392561"/>
            <a:ext cx="5219700" cy="3032820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19050">
            <a:solidFill>
              <a:srgbClr val="B7A57A">
                <a:alpha val="54901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8858250" y="3447008"/>
            <a:ext cx="571500" cy="571500"/>
          </a:xfrm>
          <a:prstGeom prst="ellipse">
            <a:avLst/>
          </a:prstGeom>
          <a:noFill/>
          <a:ln cap="flat" cmpd="sng" w="19050">
            <a:solidFill>
              <a:srgbClr val="B7A5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7303443" y="4113758"/>
            <a:ext cx="379154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A5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7A57A"/>
                </a:solidFill>
                <a:latin typeface="Courier New"/>
                <a:ea typeface="Courier New"/>
                <a:cs typeface="Courier New"/>
                <a:sym typeface="Courier New"/>
              </a:rPr>
              <a:t>CLIP_02.MP4 · 1920×1080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6534150" y="5568250"/>
            <a:ext cx="33174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Grab + p</a:t>
            </a:r>
            <a:r>
              <a:rPr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our</a:t>
            </a:r>
            <a:r>
              <a:rPr b="0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policy (r</a:t>
            </a:r>
            <a:r>
              <a:rPr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ight arm)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2020550" y="2392561"/>
            <a:ext cx="5219700" cy="3032820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19050">
            <a:solidFill>
              <a:srgbClr val="B7A57A">
                <a:alpha val="54901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14344650" y="3447008"/>
            <a:ext cx="571500" cy="571500"/>
          </a:xfrm>
          <a:prstGeom prst="ellipse">
            <a:avLst/>
          </a:prstGeom>
          <a:noFill/>
          <a:ln cap="flat" cmpd="sng" w="19050">
            <a:solidFill>
              <a:srgbClr val="B7A5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12789843" y="4113758"/>
            <a:ext cx="379154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A5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7A57A"/>
                </a:solidFill>
                <a:latin typeface="Courier New"/>
                <a:ea typeface="Courier New"/>
                <a:cs typeface="Courier New"/>
                <a:sym typeface="Courier New"/>
              </a:rPr>
              <a:t>CLIP_03.MP4 · 1920×1080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12020550" y="5568250"/>
            <a:ext cx="27432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Grab policy (left arm)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546825" y="5980993"/>
            <a:ext cx="5219700" cy="3032700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19050">
            <a:solidFill>
              <a:srgbClr val="B7A57A">
                <a:alpha val="54901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7316118" y="7702191"/>
            <a:ext cx="37914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A5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7A57A"/>
                </a:solidFill>
                <a:latin typeface="Courier New"/>
                <a:ea typeface="Courier New"/>
                <a:cs typeface="Courier New"/>
                <a:sym typeface="Courier New"/>
              </a:rPr>
              <a:t>CLIP_04.MP4 · 1920×1080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546825" y="9156700"/>
            <a:ext cx="20550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Tose/dispose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11271076" y="9147163"/>
            <a:ext cx="571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A57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2033225" y="5980993"/>
            <a:ext cx="5219700" cy="3032700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19050">
            <a:solidFill>
              <a:srgbClr val="B7A57A">
                <a:alpha val="54901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12802518" y="7702191"/>
            <a:ext cx="37914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A5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7A57A"/>
                </a:solidFill>
                <a:latin typeface="Courier New"/>
                <a:ea typeface="Courier New"/>
                <a:cs typeface="Courier New"/>
                <a:sym typeface="Courier New"/>
              </a:rPr>
              <a:t>CLIP_05.MP4 · 1920×1080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12033225" y="9156700"/>
            <a:ext cx="19281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Serving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13859644" y="9152750"/>
            <a:ext cx="726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A57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6590169" y="9258300"/>
            <a:ext cx="72628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A57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1047750" y="9677400"/>
            <a:ext cx="465152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DRUNKY · PROGRESS UPDATE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16917293" y="9677400"/>
            <a:ext cx="39915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A57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B7A57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3" title="IMG_8125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6825" y="5980999"/>
            <a:ext cx="5219700" cy="2999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3" title="IMG_5153.MOV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46825" y="2408894"/>
            <a:ext cx="5221229" cy="3000802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3" title="IMG_5157.MOV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020550" y="2409688"/>
            <a:ext cx="5221229" cy="2999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3" title="bottle detection.MOV">
            <a:hlinkClick r:id="rId9"/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520725" y="2334075"/>
            <a:ext cx="3738469" cy="6646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3" title="IMG_5170.MOV">
            <a:hlinkClick r:id="rId11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35469" y="5989049"/>
            <a:ext cx="5221224" cy="2999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"/>
          <p:cNvSpPr/>
          <p:nvPr/>
        </p:nvSpPr>
        <p:spPr>
          <a:xfrm>
            <a:off x="1047750" y="857250"/>
            <a:ext cx="166782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754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85754E"/>
                </a:solidFill>
                <a:latin typeface="Arial"/>
                <a:ea typeface="Arial"/>
                <a:cs typeface="Arial"/>
                <a:sym typeface="Arial"/>
              </a:rPr>
              <a:t>SINCE THE LAST UPDATE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1047750" y="1257300"/>
            <a:ext cx="16678275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006E"/>
              </a:buClr>
              <a:buSzPts val="4800"/>
              <a:buFont typeface="Georgia"/>
              <a:buNone/>
            </a:pPr>
            <a:r>
              <a:rPr b="0" i="0" lang="en-US" sz="4800" u="none" cap="none" strike="noStrike">
                <a:solidFill>
                  <a:srgbClr val="32006E"/>
                </a:solidFill>
                <a:latin typeface="Georgia"/>
                <a:ea typeface="Georgia"/>
                <a:cs typeface="Georgia"/>
                <a:sym typeface="Georgia"/>
              </a:rPr>
              <a:t>Team contributions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1047750" y="9677400"/>
            <a:ext cx="465152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9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A8A90"/>
                </a:solidFill>
                <a:latin typeface="Arial"/>
                <a:ea typeface="Arial"/>
                <a:cs typeface="Arial"/>
                <a:sym typeface="Arial"/>
              </a:rPr>
              <a:t>DRUNKY · PROGRESS UPDATE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16917293" y="9677400"/>
            <a:ext cx="39915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2E8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B2E83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7995585" y="5464285"/>
            <a:ext cx="27828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9525" lIns="139125" spcFirstLastPara="1" rIns="139125" wrap="square" tIns="69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754E"/>
              </a:buClr>
              <a:buSzPts val="2434"/>
              <a:buFont typeface="Georgia"/>
              <a:buNone/>
            </a:pPr>
            <a:r>
              <a:rPr b="0" i="1" lang="en-US" sz="2434" u="none" cap="none" strike="noStrike">
                <a:solidFill>
                  <a:srgbClr val="85754E"/>
                </a:solidFill>
                <a:latin typeface="Georgia"/>
                <a:ea typeface="Georgia"/>
                <a:cs typeface="Georgia"/>
                <a:sym typeface="Georgia"/>
              </a:rPr>
              <a:t>Collaborative</a:t>
            </a:r>
            <a:endParaRPr b="0" i="0" sz="243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4"/>
          <p:cNvCxnSpPr/>
          <p:nvPr/>
        </p:nvCxnSpPr>
        <p:spPr>
          <a:xfrm flipH="1">
            <a:off x="7112060" y="3381239"/>
            <a:ext cx="1767000" cy="3060600"/>
          </a:xfrm>
          <a:prstGeom prst="straightConnector1">
            <a:avLst/>
          </a:prstGeom>
          <a:noFill/>
          <a:ln cap="flat" cmpd="sng" w="38650">
            <a:solidFill>
              <a:srgbClr val="B7A57A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3" name="Google Shape;103;p4"/>
          <p:cNvCxnSpPr/>
          <p:nvPr/>
        </p:nvCxnSpPr>
        <p:spPr>
          <a:xfrm>
            <a:off x="9894708" y="3381239"/>
            <a:ext cx="1767000" cy="3060600"/>
          </a:xfrm>
          <a:prstGeom prst="straightConnector1">
            <a:avLst/>
          </a:prstGeom>
          <a:noFill/>
          <a:ln cap="flat" cmpd="sng" w="38650">
            <a:solidFill>
              <a:srgbClr val="B7A57A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4" name="Google Shape;104;p4"/>
          <p:cNvCxnSpPr/>
          <p:nvPr/>
        </p:nvCxnSpPr>
        <p:spPr>
          <a:xfrm>
            <a:off x="7619934" y="7321244"/>
            <a:ext cx="3534000" cy="1500"/>
          </a:xfrm>
          <a:prstGeom prst="straightConnector1">
            <a:avLst/>
          </a:prstGeom>
          <a:noFill/>
          <a:ln cap="flat" cmpd="sng" w="38650">
            <a:solidFill>
              <a:srgbClr val="B7A57A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5" name="Google Shape;105;p4"/>
          <p:cNvSpPr/>
          <p:nvPr/>
        </p:nvSpPr>
        <p:spPr>
          <a:xfrm>
            <a:off x="8482540" y="1597326"/>
            <a:ext cx="1808400" cy="1808400"/>
          </a:xfrm>
          <a:prstGeom prst="ellipse">
            <a:avLst/>
          </a:prstGeom>
          <a:solidFill>
            <a:srgbClr val="4B2E83"/>
          </a:solidFill>
          <a:ln cap="flat" cmpd="sng" w="28975">
            <a:solidFill>
              <a:srgbClr val="3200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9125" lIns="139125" spcFirstLastPara="1" rIns="139125" wrap="square" tIns="139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8482540" y="2195582"/>
            <a:ext cx="1808400" cy="6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9525" lIns="139125" spcFirstLastPara="1" rIns="139125" wrap="square" tIns="69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30"/>
              <a:buFont typeface="Calibri"/>
              <a:buNone/>
            </a:pPr>
            <a:r>
              <a:rPr b="1" i="0" lang="en-US" sz="213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Tony Chen</a:t>
            </a:r>
            <a:endParaRPr b="0" i="0" sz="213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7299936" y="1110374"/>
            <a:ext cx="41739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9525" lIns="139125" spcFirstLastPara="1" rIns="139125" wrap="square" tIns="69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754E"/>
              </a:buClr>
              <a:buSzPts val="1826"/>
              <a:buFont typeface="Calibri"/>
              <a:buNone/>
            </a:pPr>
            <a:r>
              <a:rPr b="1" i="0" lang="en-US" sz="1826" u="none" cap="none" strike="noStrike">
                <a:solidFill>
                  <a:srgbClr val="85754E"/>
                </a:solidFill>
                <a:latin typeface="Calibri"/>
                <a:ea typeface="Calibri"/>
                <a:cs typeface="Calibri"/>
                <a:sym typeface="Calibri"/>
              </a:rPr>
              <a:t>Perception &amp; Policy</a:t>
            </a:r>
            <a:endParaRPr b="0" i="0" sz="182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699942" y="6416904"/>
            <a:ext cx="1808400" cy="1808400"/>
          </a:xfrm>
          <a:prstGeom prst="ellipse">
            <a:avLst/>
          </a:prstGeom>
          <a:solidFill>
            <a:srgbClr val="4B2E83"/>
          </a:solidFill>
          <a:ln cap="flat" cmpd="sng" w="28975">
            <a:solidFill>
              <a:srgbClr val="3200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9125" lIns="139125" spcFirstLastPara="1" rIns="139125" wrap="square" tIns="139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5699942" y="7015160"/>
            <a:ext cx="1808400" cy="6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9525" lIns="139125" spcFirstLastPara="1" rIns="139125" wrap="square" tIns="69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30"/>
              <a:buFont typeface="Calibri"/>
              <a:buNone/>
            </a:pPr>
            <a:r>
              <a:rPr b="1" i="0" lang="en-US" sz="213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Rushav Dash</a:t>
            </a:r>
            <a:endParaRPr b="0" i="0" sz="213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4517338" y="8503842"/>
            <a:ext cx="41739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9525" lIns="139125" spcFirstLastPara="1" rIns="139125" wrap="square" tIns="69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754E"/>
              </a:buClr>
              <a:buSzPts val="1826"/>
              <a:buFont typeface="Calibri"/>
              <a:buNone/>
            </a:pPr>
            <a:r>
              <a:rPr b="1" i="0" lang="en-US" sz="1826" u="none" cap="none" strike="noStrike">
                <a:solidFill>
                  <a:srgbClr val="85754E"/>
                </a:solidFill>
                <a:latin typeface="Calibri"/>
                <a:ea typeface="Calibri"/>
                <a:cs typeface="Calibri"/>
                <a:sym typeface="Calibri"/>
              </a:rPr>
              <a:t>Data &amp; Rosetta</a:t>
            </a:r>
            <a:endParaRPr b="0" i="0" sz="182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11265138" y="6416904"/>
            <a:ext cx="1808400" cy="1808400"/>
          </a:xfrm>
          <a:prstGeom prst="ellipse">
            <a:avLst/>
          </a:prstGeom>
          <a:solidFill>
            <a:srgbClr val="4B2E83"/>
          </a:solidFill>
          <a:ln cap="flat" cmpd="sng" w="28975">
            <a:solidFill>
              <a:srgbClr val="3200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9125" lIns="139125" spcFirstLastPara="1" rIns="139125" wrap="square" tIns="139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11265138" y="7015160"/>
            <a:ext cx="1808400" cy="6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9525" lIns="139125" spcFirstLastPara="1" rIns="139125" wrap="square" tIns="69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30"/>
              <a:buFont typeface="Calibri"/>
              <a:buNone/>
            </a:pPr>
            <a:r>
              <a:rPr b="1" i="0" lang="en-US" sz="213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Joyce Zhou</a:t>
            </a:r>
            <a:endParaRPr b="0" i="0" sz="213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10243914" y="8503842"/>
            <a:ext cx="41739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9525" lIns="139125" spcFirstLastPara="1" rIns="139125" wrap="square" tIns="69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754E"/>
              </a:buClr>
              <a:buSzPts val="1826"/>
              <a:buFont typeface="Calibri"/>
              <a:buNone/>
            </a:pPr>
            <a:r>
              <a:rPr b="1" i="0" lang="en-US" sz="1826" u="none" cap="none" strike="noStrike">
                <a:solidFill>
                  <a:srgbClr val="85754E"/>
                </a:solidFill>
                <a:latin typeface="Calibri"/>
                <a:ea typeface="Calibri"/>
                <a:cs typeface="Calibri"/>
                <a:sym typeface="Calibri"/>
              </a:rPr>
              <a:t>Data &amp; Forward Kinematics</a:t>
            </a:r>
            <a:endParaRPr b="0" i="0" sz="182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/>
          <p:nvPr/>
        </p:nvSpPr>
        <p:spPr>
          <a:xfrm>
            <a:off x="1047750" y="857250"/>
            <a:ext cx="166782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754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85754E"/>
                </a:solidFill>
                <a:latin typeface="Arial"/>
                <a:ea typeface="Arial"/>
                <a:cs typeface="Arial"/>
                <a:sym typeface="Arial"/>
              </a:rPr>
              <a:t>PLAN VS. REALITY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1047750" y="1257300"/>
            <a:ext cx="16678275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006E"/>
              </a:buClr>
              <a:buSzPts val="4800"/>
              <a:buFont typeface="Georgia"/>
              <a:buNone/>
            </a:pPr>
            <a:r>
              <a:rPr b="0" i="0" lang="en-US" sz="4800" u="none" cap="none" strike="noStrike">
                <a:solidFill>
                  <a:srgbClr val="32006E"/>
                </a:solidFill>
                <a:latin typeface="Georgia"/>
                <a:ea typeface="Georgia"/>
                <a:cs typeface="Georgia"/>
                <a:sym typeface="Georgia"/>
              </a:rPr>
              <a:t>Evaluation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1047750" y="2859286"/>
            <a:ext cx="7638455" cy="19050"/>
          </a:xfrm>
          <a:prstGeom prst="rect">
            <a:avLst/>
          </a:prstGeom>
          <a:solidFill>
            <a:srgbClr val="B7A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1047750" y="2392561"/>
            <a:ext cx="7867608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2E83"/>
              </a:buClr>
              <a:buSzPts val="2400"/>
              <a:buFont typeface="Georgia"/>
              <a:buNone/>
            </a:pPr>
            <a:r>
              <a:rPr b="0" i="0" lang="en-US" sz="2400" u="none" cap="none" strike="noStrike">
                <a:solidFill>
                  <a:srgbClr val="4B2E83"/>
                </a:solidFill>
                <a:latin typeface="Georgia"/>
                <a:ea typeface="Georgia"/>
                <a:cs typeface="Georgia"/>
                <a:sym typeface="Georgia"/>
              </a:rPr>
              <a:t>Evaluation plan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1047750" y="3106936"/>
            <a:ext cx="7638455" cy="63996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32006E">
                <a:alpha val="392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1047750" y="3106936"/>
            <a:ext cx="38100" cy="639961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1295400" y="3278386"/>
            <a:ext cx="6433093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A1A1F"/>
                </a:solidFill>
                <a:latin typeface="Arial"/>
                <a:ea typeface="Arial"/>
                <a:cs typeface="Arial"/>
                <a:sym typeface="Arial"/>
              </a:rPr>
              <a:t>Pour accuracy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7429723" y="3284050"/>
            <a:ext cx="11232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006E"/>
              </a:buClr>
              <a:buSzPts val="1950"/>
              <a:buFont typeface="Georgia"/>
              <a:buNone/>
            </a:pPr>
            <a:r>
              <a:rPr lang="en-US" sz="1950">
                <a:solidFill>
                  <a:srgbClr val="32006E"/>
                </a:solidFill>
                <a:latin typeface="Georgia"/>
                <a:ea typeface="Georgia"/>
                <a:cs typeface="Georgia"/>
                <a:sym typeface="Georgia"/>
              </a:rPr>
              <a:t>Yes or No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1047750" y="3880247"/>
            <a:ext cx="7638455" cy="63996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32006E">
                <a:alpha val="392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1047750" y="3880247"/>
            <a:ext cx="38100" cy="639961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1295400" y="4051697"/>
            <a:ext cx="6485979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A1A1F"/>
                </a:solidFill>
                <a:latin typeface="Arial"/>
                <a:ea typeface="Arial"/>
                <a:cs typeface="Arial"/>
                <a:sym typeface="Arial"/>
              </a:rPr>
              <a:t>End-to-end task success rate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7508722" y="4028075"/>
            <a:ext cx="12273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006E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32006E"/>
                </a:solidFill>
                <a:latin typeface="Georgia"/>
                <a:ea typeface="Georgia"/>
                <a:cs typeface="Georgia"/>
                <a:sym typeface="Georgia"/>
              </a:rPr>
              <a:t>&gt; 70%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1047750" y="4653558"/>
            <a:ext cx="7638455" cy="63996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32006E">
                <a:alpha val="392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1047750" y="4653558"/>
            <a:ext cx="38100" cy="639961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1295400" y="4825008"/>
            <a:ext cx="6485979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A1A1F"/>
                </a:solidFill>
              </a:rPr>
              <a:t>Drink type</a:t>
            </a:r>
            <a:r>
              <a:rPr b="0" i="0" lang="en-US" sz="1800" u="none" cap="none" strike="noStrike">
                <a:solidFill>
                  <a:srgbClr val="1A1A1F"/>
                </a:solidFill>
                <a:latin typeface="Arial"/>
                <a:ea typeface="Arial"/>
                <a:cs typeface="Arial"/>
                <a:sym typeface="Arial"/>
              </a:rPr>
              <a:t> detection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7454721" y="4801400"/>
            <a:ext cx="12813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006E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32006E"/>
                </a:solidFill>
                <a:latin typeface="Georgia"/>
                <a:ea typeface="Georgia"/>
                <a:cs typeface="Georgia"/>
                <a:sym typeface="Georgia"/>
              </a:rPr>
              <a:t>&gt; 90%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1047750" y="5426869"/>
            <a:ext cx="7638455" cy="63996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32006E">
                <a:alpha val="392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1047750" y="5426869"/>
            <a:ext cx="38100" cy="639961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1295400" y="5598319"/>
            <a:ext cx="6535492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A1A1F"/>
                </a:solidFill>
                <a:latin typeface="Arial"/>
                <a:ea typeface="Arial"/>
                <a:cs typeface="Arial"/>
                <a:sym typeface="Arial"/>
              </a:rPr>
              <a:t>Full cycle time (grab → pour → toss</a:t>
            </a:r>
            <a:r>
              <a:rPr lang="en-US" sz="1800">
                <a:solidFill>
                  <a:srgbClr val="1A1A1F"/>
                </a:solidFill>
              </a:rPr>
              <a:t>→ serve</a:t>
            </a:r>
            <a:r>
              <a:rPr b="0" i="0" lang="en-US" sz="1800" u="none" cap="none" strike="noStrike">
                <a:solidFill>
                  <a:srgbClr val="1A1A1F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7508722" y="5574700"/>
            <a:ext cx="12273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006E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32006E"/>
                </a:solidFill>
                <a:latin typeface="Georgia"/>
                <a:ea typeface="Georgia"/>
                <a:cs typeface="Georgia"/>
                <a:sym typeface="Georgia"/>
              </a:rPr>
              <a:t>&lt; </a:t>
            </a:r>
            <a:r>
              <a:rPr lang="en-US" sz="1950">
                <a:solidFill>
                  <a:srgbClr val="32006E"/>
                </a:solidFill>
                <a:latin typeface="Georgia"/>
                <a:ea typeface="Georgia"/>
                <a:cs typeface="Georgia"/>
                <a:sym typeface="Georgia"/>
              </a:rPr>
              <a:t>18</a:t>
            </a:r>
            <a:r>
              <a:rPr b="0" i="0" lang="en-US" sz="1950" u="none" cap="none" strike="noStrike">
                <a:solidFill>
                  <a:srgbClr val="32006E"/>
                </a:solidFill>
                <a:latin typeface="Georgia"/>
                <a:ea typeface="Georgia"/>
                <a:cs typeface="Georgia"/>
                <a:sym typeface="Georgia"/>
              </a:rPr>
              <a:t>0 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1047750" y="6778818"/>
            <a:ext cx="7638600" cy="639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32006E">
                <a:alpha val="392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1047750" y="6778818"/>
            <a:ext cx="38100" cy="6399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1295400" y="6950268"/>
            <a:ext cx="61344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A1A1F"/>
                </a:solidFill>
                <a:latin typeface="Arial"/>
                <a:ea typeface="Arial"/>
                <a:cs typeface="Arial"/>
                <a:sym typeface="Arial"/>
              </a:rPr>
              <a:t>Recovery from a single slip / mis-grasp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7454724" y="6947050"/>
            <a:ext cx="13899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006E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32006E"/>
                </a:solidFill>
                <a:latin typeface="Georgia"/>
                <a:ea typeface="Georgia"/>
                <a:cs typeface="Georgia"/>
                <a:sym typeface="Georgia"/>
              </a:rPr>
              <a:t>retry once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9219605" y="2859286"/>
            <a:ext cx="8020645" cy="19050"/>
          </a:xfrm>
          <a:prstGeom prst="rect">
            <a:avLst/>
          </a:prstGeom>
          <a:solidFill>
            <a:srgbClr val="B7A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9219605" y="2392561"/>
            <a:ext cx="8261265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2E83"/>
              </a:buClr>
              <a:buSzPts val="2400"/>
              <a:buFont typeface="Georgia"/>
              <a:buNone/>
            </a:pPr>
            <a:r>
              <a:rPr b="0" i="0" lang="en-US" sz="2400" u="none" cap="none" strike="noStrike">
                <a:solidFill>
                  <a:srgbClr val="4B2E83"/>
                </a:solidFill>
                <a:latin typeface="Georgia"/>
                <a:ea typeface="Georgia"/>
                <a:cs typeface="Georgia"/>
                <a:sym typeface="Georgia"/>
              </a:rPr>
              <a:t>Results so far (r</a:t>
            </a:r>
            <a:r>
              <a:rPr lang="en-US" sz="2400">
                <a:solidFill>
                  <a:srgbClr val="4B2E83"/>
                </a:solidFill>
                <a:latin typeface="Georgia"/>
                <a:ea typeface="Georgia"/>
                <a:cs typeface="Georgia"/>
                <a:sym typeface="Georgia"/>
              </a:rPr>
              <a:t>ight arm grab)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9219605" y="3106936"/>
            <a:ext cx="8020645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32006E">
                <a:alpha val="392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9219605" y="3106936"/>
            <a:ext cx="38100" cy="704850"/>
          </a:xfrm>
          <a:prstGeom prst="rect">
            <a:avLst/>
          </a:prstGeom>
          <a:solidFill>
            <a:srgbClr val="B7A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9467255" y="3326011"/>
            <a:ext cx="548252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A1A1F"/>
                </a:solidFill>
              </a:rPr>
              <a:t>Grabbing success rate average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14886978" y="3354538"/>
            <a:ext cx="1281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006E"/>
              </a:buClr>
              <a:buSzPts val="2250"/>
              <a:buFont typeface="Georgia"/>
              <a:buNone/>
            </a:pPr>
            <a:r>
              <a:rPr lang="en-US" sz="2250">
                <a:solidFill>
                  <a:srgbClr val="32006E"/>
                </a:solidFill>
                <a:latin typeface="Georgia"/>
                <a:ea typeface="Georgia"/>
                <a:cs typeface="Georgia"/>
                <a:sym typeface="Georgia"/>
              </a:rPr>
              <a:t>88.33%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9219605" y="3945136"/>
            <a:ext cx="8020645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32006E">
                <a:alpha val="392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9219605" y="3945136"/>
            <a:ext cx="38100" cy="704850"/>
          </a:xfrm>
          <a:prstGeom prst="rect">
            <a:avLst/>
          </a:prstGeom>
          <a:solidFill>
            <a:srgbClr val="B7A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9467255" y="4164211"/>
            <a:ext cx="578313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A1A1F"/>
                </a:solidFill>
              </a:rPr>
              <a:t>Grabbing success rate (top-left)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14573183" y="4135550"/>
            <a:ext cx="15951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006E"/>
              </a:buClr>
              <a:buSzPts val="2250"/>
              <a:buFont typeface="Georgia"/>
              <a:buNone/>
            </a:pPr>
            <a:r>
              <a:rPr lang="en-US" sz="2250">
                <a:solidFill>
                  <a:srgbClr val="32006E"/>
                </a:solidFill>
                <a:latin typeface="Georgia"/>
                <a:ea typeface="Georgia"/>
                <a:cs typeface="Georgia"/>
                <a:sym typeface="Georgia"/>
              </a:rPr>
              <a:t>10/10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9219605" y="4783336"/>
            <a:ext cx="8020645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32006E">
                <a:alpha val="392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9219605" y="4783336"/>
            <a:ext cx="38100" cy="704850"/>
          </a:xfrm>
          <a:prstGeom prst="rect">
            <a:avLst/>
          </a:prstGeom>
          <a:solidFill>
            <a:srgbClr val="B7A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9467255" y="5002411"/>
            <a:ext cx="590484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A1A1F"/>
                </a:solidFill>
              </a:rPr>
              <a:t>Grabbing success rate (top-middle)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14940973" y="4978588"/>
            <a:ext cx="12273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006E"/>
              </a:buClr>
              <a:buSzPts val="2250"/>
              <a:buFont typeface="Georgia"/>
              <a:buNone/>
            </a:pPr>
            <a:r>
              <a:rPr lang="en-US" sz="2250">
                <a:solidFill>
                  <a:srgbClr val="32006E"/>
                </a:solidFill>
                <a:latin typeface="Georgia"/>
                <a:ea typeface="Georgia"/>
                <a:cs typeface="Georgia"/>
                <a:sym typeface="Georgia"/>
              </a:rPr>
              <a:t>10/10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9219605" y="5621536"/>
            <a:ext cx="8020645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32006E">
                <a:alpha val="392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9219605" y="5621536"/>
            <a:ext cx="38100" cy="704850"/>
          </a:xfrm>
          <a:prstGeom prst="rect">
            <a:avLst/>
          </a:prstGeom>
          <a:solidFill>
            <a:srgbClr val="B7A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9467255" y="5840611"/>
            <a:ext cx="596187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A1A1F"/>
                </a:solidFill>
              </a:rPr>
              <a:t>Grabbing success rate (top-right)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14940975" y="5806399"/>
            <a:ext cx="12273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006E"/>
              </a:buClr>
              <a:buSzPts val="2250"/>
              <a:buFont typeface="Georgia"/>
              <a:buNone/>
            </a:pPr>
            <a:r>
              <a:rPr lang="en-US" sz="2250">
                <a:solidFill>
                  <a:srgbClr val="32006E"/>
                </a:solidFill>
                <a:latin typeface="Georgia"/>
                <a:ea typeface="Georgia"/>
                <a:cs typeface="Georgia"/>
                <a:sym typeface="Georgia"/>
              </a:rPr>
              <a:t>8/10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9219605" y="6459736"/>
            <a:ext cx="8020645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32006E">
                <a:alpha val="392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9219605" y="6459736"/>
            <a:ext cx="38100" cy="704850"/>
          </a:xfrm>
          <a:prstGeom prst="rect">
            <a:avLst/>
          </a:prstGeom>
          <a:solidFill>
            <a:srgbClr val="B7A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9467255" y="6678811"/>
            <a:ext cx="569299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A1A1F"/>
                </a:solidFill>
              </a:rPr>
              <a:t>Grabbing success rate (bottom-left)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15488409" y="6650236"/>
            <a:ext cx="687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006E"/>
              </a:buClr>
              <a:buSzPts val="2250"/>
              <a:buFont typeface="Georgia"/>
              <a:buNone/>
            </a:pPr>
            <a:r>
              <a:rPr lang="en-US" sz="2250">
                <a:solidFill>
                  <a:srgbClr val="32006E"/>
                </a:solidFill>
                <a:latin typeface="Georgia"/>
                <a:ea typeface="Georgia"/>
                <a:cs typeface="Georgia"/>
                <a:sym typeface="Georgia"/>
              </a:rPr>
              <a:t>9/10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9219605" y="7297936"/>
            <a:ext cx="8020500" cy="705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32006E">
                <a:alpha val="392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9219605" y="7297936"/>
            <a:ext cx="38100" cy="705000"/>
          </a:xfrm>
          <a:prstGeom prst="rect">
            <a:avLst/>
          </a:prstGeom>
          <a:solidFill>
            <a:srgbClr val="B7A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9467255" y="7517011"/>
            <a:ext cx="5798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A1A1F"/>
                </a:solidFill>
              </a:rPr>
              <a:t>Grabbing success rate (bottom-middle)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15306377" y="7507486"/>
            <a:ext cx="8619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006E"/>
              </a:buClr>
              <a:buSzPts val="2250"/>
              <a:buFont typeface="Georgia"/>
              <a:buNone/>
            </a:pPr>
            <a:r>
              <a:rPr lang="en-US" sz="2250">
                <a:solidFill>
                  <a:srgbClr val="32006E"/>
                </a:solidFill>
                <a:latin typeface="Georgia"/>
                <a:ea typeface="Georgia"/>
                <a:cs typeface="Georgia"/>
                <a:sym typeface="Georgia"/>
              </a:rPr>
              <a:t>9/10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1047750" y="9677400"/>
            <a:ext cx="465152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9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A8A90"/>
                </a:solidFill>
                <a:latin typeface="Arial"/>
                <a:ea typeface="Arial"/>
                <a:cs typeface="Arial"/>
                <a:sym typeface="Arial"/>
              </a:rPr>
              <a:t>DRUNKY · PROGRESS UPDATE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16917293" y="9677400"/>
            <a:ext cx="39915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2E8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B2E83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1047800" y="6646599"/>
            <a:ext cx="7638600" cy="19200"/>
          </a:xfrm>
          <a:prstGeom prst="rect">
            <a:avLst/>
          </a:prstGeom>
          <a:solidFill>
            <a:srgbClr val="B7A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1047800" y="6179874"/>
            <a:ext cx="78675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2E83"/>
              </a:buClr>
              <a:buSzPts val="2400"/>
              <a:buFont typeface="Georgia"/>
              <a:buNone/>
            </a:pPr>
            <a:r>
              <a:rPr lang="en-US" sz="2400">
                <a:solidFill>
                  <a:srgbClr val="4B2E83"/>
                </a:solidFill>
                <a:latin typeface="Georgia"/>
                <a:ea typeface="Georgia"/>
                <a:cs typeface="Georgia"/>
                <a:sym typeface="Georgia"/>
              </a:rPr>
              <a:t>Additional</a:t>
            </a:r>
            <a:r>
              <a:rPr lang="en-US" sz="2400">
                <a:solidFill>
                  <a:srgbClr val="4B2E83"/>
                </a:solidFill>
                <a:latin typeface="Georgia"/>
                <a:ea typeface="Georgia"/>
                <a:cs typeface="Georgia"/>
                <a:sym typeface="Georgia"/>
              </a:rPr>
              <a:t> side</a:t>
            </a:r>
            <a:r>
              <a:rPr b="0" i="0" lang="en-US" sz="2400" u="none" cap="none" strike="noStrike">
                <a:solidFill>
                  <a:srgbClr val="4B2E83"/>
                </a:solidFill>
                <a:latin typeface="Georgia"/>
                <a:ea typeface="Georgia"/>
                <a:cs typeface="Georgia"/>
                <a:sym typeface="Georgia"/>
              </a:rPr>
              <a:t> plan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1047675" y="7552155"/>
            <a:ext cx="7638600" cy="639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32006E">
                <a:alpha val="39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1047675" y="7552155"/>
            <a:ext cx="38100" cy="6399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1295325" y="7723605"/>
            <a:ext cx="61344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A1A1F"/>
                </a:solidFill>
              </a:rPr>
              <a:t>Stir drink before serving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9227330" y="8136286"/>
            <a:ext cx="8020500" cy="705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32006E">
                <a:alpha val="39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9227330" y="8136286"/>
            <a:ext cx="38100" cy="705000"/>
          </a:xfrm>
          <a:prstGeom prst="rect">
            <a:avLst/>
          </a:prstGeom>
          <a:solidFill>
            <a:srgbClr val="B7A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9474980" y="8355361"/>
            <a:ext cx="5798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A1A1F"/>
                </a:solidFill>
              </a:rPr>
              <a:t>Grabbing success rate (bottom-right)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15314102" y="8345836"/>
            <a:ext cx="8619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006E"/>
              </a:buClr>
              <a:buSzPts val="2250"/>
              <a:buFont typeface="Georgia"/>
              <a:buNone/>
            </a:pPr>
            <a:r>
              <a:rPr lang="en-US" sz="2250">
                <a:solidFill>
                  <a:srgbClr val="32006E"/>
                </a:solidFill>
                <a:latin typeface="Georgia"/>
                <a:ea typeface="Georgia"/>
                <a:cs typeface="Georgia"/>
                <a:sym typeface="Georgia"/>
              </a:rPr>
              <a:t>7/10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"/>
          <p:cNvSpPr/>
          <p:nvPr/>
        </p:nvSpPr>
        <p:spPr>
          <a:xfrm>
            <a:off x="1047750" y="857250"/>
            <a:ext cx="166782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754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85754E"/>
                </a:solidFill>
                <a:latin typeface="Arial"/>
                <a:ea typeface="Arial"/>
                <a:cs typeface="Arial"/>
                <a:sym typeface="Arial"/>
              </a:rPr>
              <a:t>TOWARD FINAL PRESENTATION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1047750" y="1257300"/>
            <a:ext cx="16678275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006E"/>
              </a:buClr>
              <a:buSzPts val="4800"/>
              <a:buFont typeface="Georgia"/>
              <a:buNone/>
            </a:pPr>
            <a:r>
              <a:rPr b="0" i="0" lang="en-US" sz="4800" u="none" cap="none" strike="noStrike">
                <a:solidFill>
                  <a:srgbClr val="32006E"/>
                </a:solidFill>
                <a:latin typeface="Georgia"/>
                <a:ea typeface="Georgia"/>
                <a:cs typeface="Georgia"/>
                <a:sym typeface="Georgia"/>
              </a:rPr>
              <a:t>Remaining work &amp; final goal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1047750" y="2525911"/>
            <a:ext cx="285900" cy="285900"/>
          </a:xfrm>
          <a:prstGeom prst="ellipse">
            <a:avLst/>
          </a:prstGeom>
          <a:solidFill>
            <a:srgbClr val="4B2E83"/>
          </a:solidFill>
          <a:ln cap="flat" cmpd="sng" w="38100">
            <a:solidFill>
              <a:srgbClr val="FAFA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16200000" dist="50800">
              <a:srgbClr val="4B2E83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1462875" y="2518561"/>
            <a:ext cx="3162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754E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85754E"/>
                </a:solidFill>
              </a:rPr>
              <a:t>WEEK 7+8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1462875" y="2937661"/>
            <a:ext cx="31629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2006E"/>
              </a:buClr>
              <a:buSzPts val="1800"/>
              <a:buFont typeface="Georgia"/>
              <a:buNone/>
            </a:pPr>
            <a:r>
              <a:rPr lang="en-US" sz="1800">
                <a:solidFill>
                  <a:srgbClr val="32006E"/>
                </a:solidFill>
                <a:latin typeface="Georgia"/>
                <a:ea typeface="Georgia"/>
                <a:cs typeface="Georgia"/>
                <a:sym typeface="Georgia"/>
              </a:rPr>
              <a:t>End-to-end integration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1462875" y="3375800"/>
            <a:ext cx="11294700" cy="4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4A52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4A4A52"/>
                </a:solidFill>
              </a:rPr>
              <a:t>Connect all pose sequences with the LeRobot grab policy through Rosetta and begin full pipeline test runs.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1047746" y="4089161"/>
            <a:ext cx="285900" cy="285900"/>
          </a:xfrm>
          <a:prstGeom prst="ellipse">
            <a:avLst/>
          </a:prstGeom>
          <a:solidFill>
            <a:srgbClr val="4B2E83"/>
          </a:solidFill>
          <a:ln cap="flat" cmpd="sng" w="38100">
            <a:solidFill>
              <a:srgbClr val="FAFA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16200000" dist="50800">
              <a:srgbClr val="4B2E83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1432496" y="4060811"/>
            <a:ext cx="3162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754E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85754E"/>
                </a:solidFill>
              </a:rPr>
              <a:t>WEEK 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1432496" y="4479911"/>
            <a:ext cx="31629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2006E"/>
              </a:buClr>
              <a:buSzPts val="1800"/>
              <a:buFont typeface="Georgia"/>
              <a:buNone/>
            </a:pPr>
            <a:r>
              <a:rPr lang="en-US" sz="1800">
                <a:solidFill>
                  <a:srgbClr val="32006E"/>
                </a:solidFill>
                <a:latin typeface="Georgia"/>
                <a:ea typeface="Georgia"/>
                <a:cs typeface="Georgia"/>
                <a:sym typeface="Georgia"/>
              </a:rPr>
              <a:t>Evaluation spring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1432510" y="4918050"/>
            <a:ext cx="11294700" cy="12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4A52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4A4A52"/>
                </a:solidFill>
              </a:rPr>
              <a:t>Run 10-trial evaluation sets per drink; measure pour accuracy, cycle time, and success rate against targets.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1047740" y="5567961"/>
            <a:ext cx="285900" cy="2859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FAFA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16200000" dist="50800">
              <a:srgbClr val="B7A57A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1432490" y="5520111"/>
            <a:ext cx="3162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754E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85754E"/>
                </a:solidFill>
              </a:rPr>
              <a:t>WEEK 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1432490" y="5939211"/>
            <a:ext cx="31629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2006E"/>
              </a:buClr>
              <a:buSzPts val="1800"/>
              <a:buFont typeface="Georgia"/>
              <a:buNone/>
            </a:pPr>
            <a:r>
              <a:rPr lang="en-US" sz="1800">
                <a:solidFill>
                  <a:srgbClr val="32006E"/>
                </a:solidFill>
                <a:latin typeface="Georgia"/>
                <a:ea typeface="Georgia"/>
                <a:cs typeface="Georgia"/>
                <a:sym typeface="Georgia"/>
              </a:rPr>
              <a:t>Final deliverables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1432494" y="6377350"/>
            <a:ext cx="10434000" cy="9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4A4A52"/>
                </a:solidFill>
              </a:rPr>
              <a:t>Clean up the repo, document the system, and prepare the final presentation and live demo.</a:t>
            </a:r>
            <a:endParaRPr sz="1200">
              <a:solidFill>
                <a:srgbClr val="F8F8F6"/>
              </a:solidFill>
              <a:highlight>
                <a:srgbClr val="1F1F1E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4A52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4A4A52"/>
              </a:solidFill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1047750" y="7348450"/>
            <a:ext cx="16192500" cy="1699200"/>
          </a:xfrm>
          <a:prstGeom prst="rect">
            <a:avLst/>
          </a:prstGeom>
          <a:solidFill>
            <a:srgbClr val="320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1047750" y="7348450"/>
            <a:ext cx="57300" cy="1699200"/>
          </a:xfrm>
          <a:prstGeom prst="rect">
            <a:avLst/>
          </a:prstGeom>
          <a:solidFill>
            <a:srgbClr val="B7A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1560300" y="7453275"/>
            <a:ext cx="3680400" cy="20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A57A"/>
              </a:buClr>
              <a:buSzPts val="1800"/>
              <a:buFont typeface="Arial"/>
              <a:buNone/>
            </a:pPr>
            <a:r>
              <a:rPr b="1" i="0" lang="en-US" sz="2400" u="sng" cap="none" strike="noStrike">
                <a:solidFill>
                  <a:srgbClr val="B7A57A"/>
                </a:solidFill>
                <a:latin typeface="Arial"/>
                <a:ea typeface="Arial"/>
                <a:cs typeface="Arial"/>
                <a:sym typeface="Arial"/>
              </a:rPr>
              <a:t>FINAL GOAL</a:t>
            </a:r>
            <a:endParaRPr b="0" i="0" sz="24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1560300" y="7965243"/>
            <a:ext cx="151674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Reliably </a:t>
            </a:r>
            <a:r>
              <a:rPr b="1" i="0" lang="en-US" sz="2400" u="none" cap="none" strike="noStrike">
                <a:solidFill>
                  <a:srgbClr val="B7A57A"/>
                </a:solidFill>
                <a:latin typeface="Georgia"/>
                <a:ea typeface="Georgia"/>
                <a:cs typeface="Georgia"/>
                <a:sym typeface="Georgia"/>
              </a:rPr>
              <a:t>detect, grab, pour, and toss </a:t>
            </a:r>
            <a:r>
              <a:rPr b="0" i="1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 single drink — closed-loop, with no human intervention — in </a:t>
            </a:r>
            <a:r>
              <a:rPr b="1" i="0" lang="en-US" sz="2400" u="none" cap="none" strike="noStrike">
                <a:solidFill>
                  <a:srgbClr val="B7A57A"/>
                </a:solidFill>
                <a:latin typeface="Georgia"/>
                <a:ea typeface="Georgia"/>
                <a:cs typeface="Georgia"/>
                <a:sym typeface="Georgia"/>
              </a:rPr>
              <a:t>under </a:t>
            </a:r>
            <a:r>
              <a:rPr b="1" lang="en-US" sz="2400">
                <a:solidFill>
                  <a:srgbClr val="B7A57A"/>
                </a:solidFill>
                <a:latin typeface="Georgia"/>
                <a:ea typeface="Georgia"/>
                <a:cs typeface="Georgia"/>
                <a:sym typeface="Georgia"/>
              </a:rPr>
              <a:t>180</a:t>
            </a:r>
            <a:r>
              <a:rPr b="1" i="0" lang="en-US" sz="2400" u="none" cap="none" strike="noStrike">
                <a:solidFill>
                  <a:srgbClr val="B7A57A"/>
                </a:solidFill>
                <a:latin typeface="Georgia"/>
                <a:ea typeface="Georgia"/>
                <a:cs typeface="Georgia"/>
                <a:sym typeface="Georgia"/>
              </a:rPr>
              <a:t> seconds </a:t>
            </a:r>
            <a:r>
              <a:rPr b="0" i="1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, on at least </a:t>
            </a:r>
            <a:r>
              <a:rPr b="1" i="0" lang="en-US" sz="2400" u="none" cap="none" strike="noStrike">
                <a:solidFill>
                  <a:srgbClr val="B7A57A"/>
                </a:solidFill>
                <a:latin typeface="Georgia"/>
                <a:ea typeface="Georgia"/>
                <a:cs typeface="Georgia"/>
                <a:sym typeface="Georgia"/>
              </a:rPr>
              <a:t>7 out of 10 </a:t>
            </a:r>
            <a:r>
              <a:rPr b="0" i="1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consecutive trials.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1047750" y="9677400"/>
            <a:ext cx="465152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9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A8A90"/>
                </a:solidFill>
                <a:latin typeface="Arial"/>
                <a:ea typeface="Arial"/>
                <a:cs typeface="Arial"/>
                <a:sym typeface="Arial"/>
              </a:rPr>
              <a:t>DRUNKY · PROGRESS UPDATE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16917293" y="9677400"/>
            <a:ext cx="39915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2E8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B2E83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20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1047750" y="2692747"/>
            <a:ext cx="1667827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0"/>
              <a:buFont typeface="Georgia"/>
              <a:buNone/>
            </a:pPr>
            <a:r>
              <a:rPr b="0" i="0" lang="en-US" sz="117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Thank you.</a:t>
            </a:r>
            <a:endParaRPr b="0" i="0" sz="1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1047750" y="4311997"/>
            <a:ext cx="166782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A57A"/>
              </a:buClr>
              <a:buSzPts val="4200"/>
              <a:buFont typeface="Georgia"/>
              <a:buNone/>
            </a:pPr>
            <a:r>
              <a:rPr b="0" i="1" lang="en-US" sz="4200" u="none" cap="none" strike="noStrike">
                <a:solidFill>
                  <a:srgbClr val="B7A57A"/>
                </a:solidFill>
                <a:latin typeface="Georgia"/>
                <a:ea typeface="Georgia"/>
                <a:cs typeface="Georgia"/>
                <a:sym typeface="Georgia"/>
              </a:rPr>
              <a:t>Questions?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1047750" y="5340697"/>
            <a:ext cx="1524000" cy="38100"/>
          </a:xfrm>
          <a:prstGeom prst="rect">
            <a:avLst/>
          </a:prstGeom>
          <a:solidFill>
            <a:srgbClr val="B7A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1047750" y="5797897"/>
            <a:ext cx="10791825" cy="89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1F2"/>
              </a:buClr>
              <a:buSzPts val="2400"/>
              <a:buFont typeface="Georgia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1047750" y="8296275"/>
            <a:ext cx="16192500" cy="9525"/>
          </a:xfrm>
          <a:prstGeom prst="rect">
            <a:avLst/>
          </a:prstGeom>
          <a:solidFill>
            <a:srgbClr val="B7A57A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1047750" y="8610600"/>
            <a:ext cx="40254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Georgia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Drunky: Robot Bartender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1047750" y="8972550"/>
            <a:ext cx="686246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A57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B7A57A"/>
                </a:solidFill>
                <a:latin typeface="Arial"/>
                <a:ea typeface="Arial"/>
                <a:cs typeface="Arial"/>
                <a:sym typeface="Arial"/>
              </a:rPr>
              <a:t>TONY CHEN · RUSHAV DASH · JOYCE ZHOU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10231542" y="8705850"/>
            <a:ext cx="700870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UNIVERSITY OF WASHINGTON GLOBAL INNOVATION EXCHANGE · TECHIN 517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2026-05-12T03:18:09Z</dcterms:created>
  <dc:creator>PptxGenJS</dc:creator>
</cp:coreProperties>
</file>